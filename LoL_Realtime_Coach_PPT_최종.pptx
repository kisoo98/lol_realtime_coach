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 i="0">
                <a:solidFill>
                  <a:srgbClr val="2C5F2D"/>
                </a:solidFill>
                <a:latin typeface="맑은 고딕"/>
              </a:rPr>
              <a:t>League of Legends 실시간 AI 코칭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200" b="1" i="0">
                <a:solidFill>
                  <a:srgbClr val="2C5F2D"/>
                </a:solidFill>
                <a:latin typeface="Calibri"/>
              </a:rPr>
              <a:t>LoL Realtime Coach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4069080"/>
            <a:ext cx="9144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1F4422"/>
                </a:solidFill>
                <a:latin typeface="맑은 고딕"/>
              </a:rPr>
              <a:t>팀원 : 황기수  ·  김대원  ·  박창민  ·  한승우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5A5A5A"/>
                </a:solidFill>
                <a:latin typeface="맑은 고딕"/>
              </a:rPr>
              <a:t>2026.05.18  /  외부 발표 + 시연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한 문장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One-Sentence Summary +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2C5F2D"/>
                </a:solidFill>
                <a:latin typeface="맑은 고딕"/>
              </a:rPr>
              <a:t>League of Legends 플레이어가 라인전·교전 중 놓치는 미니맵 상황을</a:t>
            </a:r>
          </a:p>
          <a:p>
            <a:pPr algn="ctr"/>
            <a:r>
              <a:rPr sz="2200" b="1" i="0">
                <a:solidFill>
                  <a:srgbClr val="2C5F2D"/>
                </a:solidFill>
                <a:latin typeface="맑은 고딕"/>
              </a:rPr>
              <a:t>화면 캡처 + YOLO 컴퓨터 비전 + LLM 코칭으로 실시간 감지해</a:t>
            </a:r>
          </a:p>
          <a:p>
            <a:pPr algn="ctr"/>
            <a:r>
              <a:rPr sz="2200" b="1" i="0">
                <a:solidFill>
                  <a:srgbClr val="2C5F2D"/>
                </a:solidFill>
                <a:latin typeface="맑은 고딕"/>
              </a:rPr>
              <a:t>음성·시각 알림으로 즉시 전달하는 Windows 데스크톱 오버레이 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8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데모 영상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343400"/>
            <a:ext cx="10515600" cy="2103120"/>
          </a:xfrm>
          <a:prstGeom prst="roundRect">
            <a:avLst>
              <a:gd name="adj" fmla="val 6000"/>
            </a:avLst>
          </a:prstGeom>
          <a:solidFill>
            <a:srgbClr val="FA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996696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F4422"/>
                </a:solidFill>
                <a:latin typeface="맑은 고딕"/>
              </a:rPr>
              <a:t>▶  2~3분 풀버전 (마감 5/14 EOD)  ·  5~10초 임팩트 GIF  ·  현장 장애 대비 백업 영상 1개</a:t>
            </a:r>
          </a:p>
          <a:p>
            <a:pPr algn="l"/>
            <a:r>
              <a:rPr sz="1500" b="0" i="0">
                <a:solidFill>
                  <a:srgbClr val="1F4422"/>
                </a:solidFill>
                <a:latin typeface="맑은 고딕"/>
              </a:rPr>
              <a:t/>
            </a:r>
          </a:p>
          <a:p>
            <a:pPr algn="l"/>
            <a:r>
              <a:rPr sz="1500" b="0" i="0">
                <a:solidFill>
                  <a:srgbClr val="1F4422"/>
                </a:solidFill>
                <a:latin typeface="맑은 고딕"/>
              </a:rPr>
              <a:t>시나리오 : 앱 실행 → 게임 시작 → 적 접근 → 위험도 상승 (Green→Yellow→Red) → TTS 음성 코칭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Pain Point P1 · P2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600" b="1">
                <a:solidFill>
                  <a:srgbClr val="1F4422"/>
                </a:solidFill>
                <a:latin typeface="맑은 고딕"/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정글러 갱킹 인지 실패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7315200" cy="118872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69494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F4422"/>
                </a:solidFill>
                <a:latin typeface="맑은 고딕"/>
              </a:rPr>
              <a:t>라인전 중 미니맵을 확인하지 못해 정글러 접근을 사전에 인지하지 못함.</a:t>
            </a:r>
          </a:p>
          <a:p>
            <a:pPr algn="l"/>
            <a:r>
              <a:rPr sz="1400" b="0" i="0">
                <a:solidFill>
                  <a:srgbClr val="1F4422"/>
                </a:solidFill>
                <a:latin typeface="맑은 고딕"/>
              </a:rPr>
              <a:t>결과 : 데스 / 라인 손실 → 초반 주도권 상실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600" b="1">
                <a:solidFill>
                  <a:srgbClr val="1F4422"/>
                </a:solidFill>
                <a:latin typeface="맑은 고딕"/>
              </a:rPr>
              <a:t>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1188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상대 미드·서폿 로밍 놓침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7315200" cy="118872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69494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F4422"/>
                </a:solidFill>
                <a:latin typeface="맑은 고딕"/>
              </a:rPr>
              <a:t>상대 미드·서폿 로밍 인지 지연 → 다른 라인 터지면서 맵 전체 스노우볼.</a:t>
            </a:r>
          </a:p>
          <a:p>
            <a:pPr algn="l"/>
            <a:r>
              <a:rPr sz="1400" b="0" i="0">
                <a:solidFill>
                  <a:srgbClr val="1F4422"/>
                </a:solidFill>
                <a:latin typeface="맑은 고딕"/>
              </a:rPr>
              <a:t>결과 : 게임 전체 흐름 역전, 회복 불가능한 손실 발생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7315200" cy="777240"/>
          </a:xfrm>
          <a:prstGeom prst="roundRect">
            <a:avLst>
              <a:gd name="adj" fmla="val 6000"/>
            </a:avLst>
          </a:prstGeom>
          <a:solidFill>
            <a:srgbClr val="FA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69494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F4422"/>
                </a:solidFill>
                <a:latin typeface="맑은 고딕"/>
              </a:rPr>
              <a:t>★  MVP 타겟 : P1(갱킹 위험) + P2(로밍 감지) — 4주 내 달성 가능 &amp; 체감 효용 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6916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500" b="1">
                <a:solidFill>
                  <a:srgbClr val="1F4422"/>
                </a:solidFill>
                <a:latin typeface="맑은 고딕"/>
              </a:rPr>
              <a:t>페르소나 3인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028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맑은 고딕"/>
              </a:rPr>
              <a:t>김민수 · 24 · 실버 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65176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미니맵 체크 습관 부족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→ 강제 시선 끌어주는 경고 필요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65760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70332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맑은 고딕"/>
              </a:rPr>
              <a:t>이지은 · 28 · 골드 원딜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6908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서폿 로밍 시 2:1 인지 지연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→ 동선 요약 알림 필요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50749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512064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맑은 고딕"/>
              </a:rPr>
              <a:t>박준호 · 19 · 플래티넘 미드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48640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자기 습관 객관화 어려움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→ 실시간 피드백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시장 차별점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Competitive Differentiation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423160" cy="640080"/>
          </a:xfrm>
          <a:prstGeom prst="rect">
            <a:avLst/>
          </a:prstGeom>
          <a:solidFill>
            <a:srgbClr val="97BC62"/>
          </a:solidFill>
          <a:ln w="6350">
            <a:solidFill>
              <a:srgbClr val="1F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서비스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2423160" cy="640080"/>
          </a:xfrm>
          <a:prstGeom prst="rect">
            <a:avLst/>
          </a:prstGeom>
          <a:solidFill>
            <a:srgbClr val="97BC62"/>
          </a:solidFill>
          <a:ln w="6350">
            <a:solidFill>
              <a:srgbClr val="1F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제공 시점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2423160" cy="640080"/>
          </a:xfrm>
          <a:prstGeom prst="rect">
            <a:avLst/>
          </a:prstGeom>
          <a:solidFill>
            <a:srgbClr val="97BC62"/>
          </a:solidFill>
          <a:ln w="6350">
            <a:solidFill>
              <a:srgbClr val="1F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형태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828800"/>
            <a:ext cx="3246120" cy="640080"/>
          </a:xfrm>
          <a:prstGeom prst="rect">
            <a:avLst/>
          </a:prstGeom>
          <a:solidFill>
            <a:srgbClr val="97BC62"/>
          </a:solidFill>
          <a:ln w="6350">
            <a:solidFill>
              <a:srgbClr val="1F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핵심 차별점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242316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OP.GG · 포로지지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468880"/>
            <a:ext cx="242316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경기 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468880"/>
            <a:ext cx="242316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통계 / 리플레이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468880"/>
            <a:ext cx="324612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실시간 알림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242316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Mobalytics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108960"/>
            <a:ext cx="242316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경기 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108960"/>
            <a:ext cx="242316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대시보드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108960"/>
            <a:ext cx="324612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인게임 개입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49040"/>
            <a:ext cx="242316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Blitz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749040"/>
            <a:ext cx="242316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경기 전·후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749040"/>
            <a:ext cx="242316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빌드 추천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749040"/>
            <a:ext cx="3246120" cy="640080"/>
          </a:xfrm>
          <a:prstGeom prst="rect">
            <a:avLst/>
          </a:prstGeom>
          <a:solidFill>
            <a:srgbClr val="F5F0E0"/>
          </a:solidFill>
          <a:ln w="635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4422"/>
                </a:solidFill>
                <a:latin typeface="맑은 고딕"/>
              </a:rPr>
              <a:t>미니맵 상황 인식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389120"/>
            <a:ext cx="2423160" cy="640080"/>
          </a:xfrm>
          <a:prstGeom prst="rect">
            <a:avLst/>
          </a:prstGeom>
          <a:solidFill>
            <a:srgbClr val="F4C430"/>
          </a:solidFill>
          <a:ln w="15240">
            <a:solidFill>
              <a:srgbClr val="1F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4422"/>
                </a:solidFill>
                <a:latin typeface="맑은 고딕"/>
              </a:rPr>
              <a:t>LoL Realtime Coach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4389120"/>
            <a:ext cx="2423160" cy="640080"/>
          </a:xfrm>
          <a:prstGeom prst="rect">
            <a:avLst/>
          </a:prstGeom>
          <a:solidFill>
            <a:srgbClr val="F4C430"/>
          </a:solidFill>
          <a:ln w="15240">
            <a:solidFill>
              <a:srgbClr val="1F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4422"/>
                </a:solidFill>
                <a:latin typeface="맑은 고딕"/>
              </a:rPr>
              <a:t>경기 중 (실시간)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4389120"/>
            <a:ext cx="2423160" cy="640080"/>
          </a:xfrm>
          <a:prstGeom prst="rect">
            <a:avLst/>
          </a:prstGeom>
          <a:solidFill>
            <a:srgbClr val="F4C430"/>
          </a:solidFill>
          <a:ln w="15240">
            <a:solidFill>
              <a:srgbClr val="1F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4422"/>
                </a:solidFill>
                <a:latin typeface="맑은 고딕"/>
              </a:rPr>
              <a:t>오버레이 + TTS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389120"/>
            <a:ext cx="3246120" cy="640080"/>
          </a:xfrm>
          <a:prstGeom prst="rect">
            <a:avLst/>
          </a:prstGeom>
          <a:solidFill>
            <a:srgbClr val="F4C430"/>
          </a:solidFill>
          <a:ln w="15240">
            <a:solidFill>
              <a:srgbClr val="1F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4422"/>
                </a:solidFill>
                <a:latin typeface="맑은 고딕"/>
              </a:rPr>
              <a:t>CV 기반 상황 감지 + LLM 코칭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49240"/>
            <a:ext cx="10698480" cy="96012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1F4422"/>
                </a:solidFill>
                <a:latin typeface="맑은 고딕"/>
              </a:rPr>
              <a:t>“ 실시간 인게임 코칭 시장은 사실상 부재 ” — 본 프로젝트는 경기 중 즉시 개입하는 유일한 코칭 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End-to-End Pipeline (7 단계)</a:t>
            </a:r>
          </a:p>
        </p:txBody>
      </p:sp>
      <p:sp>
        <p:nvSpPr>
          <p:cNvPr id="6" name="Oval 5"/>
          <p:cNvSpPr/>
          <p:nvPr/>
        </p:nvSpPr>
        <p:spPr>
          <a:xfrm>
            <a:off x="37947" y="1783080"/>
            <a:ext cx="1417320" cy="1417320"/>
          </a:xfrm>
          <a:prstGeom prst="ellipse">
            <a:avLst/>
          </a:prstGeom>
          <a:solidFill>
            <a:srgbClr val="F5F0E0"/>
          </a:solidFill>
          <a:ln w="3810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" y="187452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4C43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" y="2194560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422"/>
                </a:solidFill>
                <a:latin typeface="맑은 고딕"/>
              </a:rPr>
              <a:t>화면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" y="265176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mss / dxcam</a:t>
            </a:r>
          </a:p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미니맵 ROI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500987" y="2400300"/>
            <a:ext cx="274320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1027" y="1783080"/>
            <a:ext cx="1417320" cy="1417320"/>
          </a:xfrm>
          <a:prstGeom prst="ellipse">
            <a:avLst/>
          </a:prstGeom>
          <a:solidFill>
            <a:srgbClr val="F5F0E0"/>
          </a:solidFill>
          <a:ln w="3810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1027" y="187452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4C430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1027" y="2194560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422"/>
                </a:solidFill>
                <a:latin typeface="맑은 고딕"/>
              </a:rPr>
              <a:t>YOLO 검출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1027" y="265176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Model A'</a:t>
            </a:r>
          </a:p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1-class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84067" y="2400300"/>
            <a:ext cx="274320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4107" y="1783080"/>
            <a:ext cx="1417320" cy="1417320"/>
          </a:xfrm>
          <a:prstGeom prst="ellipse">
            <a:avLst/>
          </a:prstGeom>
          <a:solidFill>
            <a:srgbClr val="F5F0E0"/>
          </a:solidFill>
          <a:ln w="3810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4107" y="187452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4C430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4107" y="2194560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422"/>
                </a:solidFill>
                <a:latin typeface="맑은 고딕"/>
              </a:rPr>
              <a:t>팀 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4107" y="265176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Model F</a:t>
            </a:r>
          </a:p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HSV ring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67147" y="2400300"/>
            <a:ext cx="274320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87187" y="1783080"/>
            <a:ext cx="1417320" cy="1417320"/>
          </a:xfrm>
          <a:prstGeom prst="ellipse">
            <a:avLst/>
          </a:prstGeom>
          <a:solidFill>
            <a:srgbClr val="F5F0E0"/>
          </a:solidFill>
          <a:ln w="3810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87187" y="187452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4C430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87187" y="2194560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422"/>
                </a:solidFill>
                <a:latin typeface="맑은 고딕"/>
              </a:rPr>
              <a:t>챔프 분류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7187" y="265176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Model B v2</a:t>
            </a:r>
          </a:p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172-class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850227" y="2400300"/>
            <a:ext cx="274320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0267" y="1783080"/>
            <a:ext cx="1417320" cy="1417320"/>
          </a:xfrm>
          <a:prstGeom prst="ellipse">
            <a:avLst/>
          </a:prstGeom>
          <a:solidFill>
            <a:srgbClr val="F5F0E0"/>
          </a:solidFill>
          <a:ln w="3810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0267" y="187452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4C430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0267" y="2194560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422"/>
                </a:solidFill>
                <a:latin typeface="맑은 고딕"/>
              </a:rPr>
              <a:t>Riot API</a:t>
            </a:r>
          </a:p>
          <a:p>
            <a:pPr algn="ctr"/>
            <a:r>
              <a:rPr sz="1200" b="1" i="0">
                <a:solidFill>
                  <a:srgbClr val="1F4422"/>
                </a:solidFill>
                <a:latin typeface="맑은 고딕"/>
              </a:rPr>
              <a:t>매칭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0267" y="265176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10명 풀</a:t>
            </a:r>
          </a:p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필터링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633307" y="2400300"/>
            <a:ext cx="274320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53347" y="1783080"/>
            <a:ext cx="1417320" cy="1417320"/>
          </a:xfrm>
          <a:prstGeom prst="ellipse">
            <a:avLst/>
          </a:prstGeom>
          <a:solidFill>
            <a:srgbClr val="F5F0E0"/>
          </a:solidFill>
          <a:ln w="3810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53347" y="187452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4C430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3347" y="2194560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422"/>
                </a:solidFill>
                <a:latin typeface="맑은 고딕"/>
              </a:rPr>
              <a:t>위험도 v2.1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3347" y="265176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멀티팩터</a:t>
            </a:r>
          </a:p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계산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0416387" y="2400300"/>
            <a:ext cx="274320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36427" y="1783080"/>
            <a:ext cx="1417320" cy="1417320"/>
          </a:xfrm>
          <a:prstGeom prst="ellipse">
            <a:avLst/>
          </a:prstGeom>
          <a:solidFill>
            <a:srgbClr val="F5F0E0"/>
          </a:solidFill>
          <a:ln w="3810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36427" y="187452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4C430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36427" y="2194560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422"/>
                </a:solidFill>
                <a:latin typeface="맑은 고딕"/>
              </a:rPr>
              <a:t>출력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36427" y="265176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오버레이 +</a:t>
            </a:r>
          </a:p>
          <a:p>
            <a:pPr algn="ctr"/>
            <a:r>
              <a:rPr sz="900" b="0" i="0">
                <a:solidFill>
                  <a:srgbClr val="1F4422"/>
                </a:solidFill>
                <a:latin typeface="맑은 고딕"/>
              </a:rPr>
              <a:t>LLM·TTS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365760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1F4422"/>
                </a:solidFill>
                <a:latin typeface="맑은 고딕"/>
              </a:rPr>
              <a:t>통합 PoC 8개 모듈 (1,549 줄)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16052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68680" y="4251960"/>
            <a:ext cx="2606040" cy="45720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25196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integrated_main.py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25196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F4C430"/>
                </a:solidFill>
                <a:latin typeface="Calibri"/>
              </a:rPr>
              <a:t>78줄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20440" y="4251960"/>
            <a:ext cx="2606040" cy="45720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425196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integrated_controller.py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425196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F4C430"/>
                </a:solidFill>
                <a:latin typeface="Calibri"/>
              </a:rPr>
              <a:t>471줄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4251960"/>
            <a:ext cx="2606040" cy="45720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425196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integrated_overlay.py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25196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F4C430"/>
                </a:solidFill>
                <a:latin typeface="Calibri"/>
              </a:rPr>
              <a:t>386줄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23960" y="4251960"/>
            <a:ext cx="2606040" cy="45720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425196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integrated_yolo.py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27080" y="425196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F4C430"/>
                </a:solidFill>
                <a:latin typeface="Calibri"/>
              </a:rPr>
              <a:t>237줄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8680" y="4800600"/>
            <a:ext cx="2606040" cy="45720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8006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integrated_live.py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48006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F4C430"/>
                </a:solidFill>
                <a:latin typeface="Calibri"/>
              </a:rPr>
              <a:t>147줄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20440" y="4800600"/>
            <a:ext cx="2606040" cy="45720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66160" y="48006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integrated_voice.py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48006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F4C430"/>
                </a:solidFill>
                <a:latin typeface="Calibri"/>
              </a:rPr>
              <a:t>103줄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2200" y="4800600"/>
            <a:ext cx="2606040" cy="45720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48006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integrated_tips.py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48006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F4C430"/>
                </a:solidFill>
                <a:latin typeface="Calibri"/>
              </a:rPr>
              <a:t>55줄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823960" y="4800600"/>
            <a:ext cx="2606040" cy="45720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69680" y="48006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integrated_helpers.py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27080" y="48006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F4C430"/>
                </a:solidFill>
                <a:latin typeface="Calibri"/>
              </a:rPr>
              <a:t>32줄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F4C430"/>
                </a:solidFill>
                <a:latin typeface="맑은 고딕"/>
              </a:rPr>
              <a:t>단방향 의존 · 순환 참조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AI / ML 모델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Model A'  /  Model F  /  Model B v2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611880" cy="86868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Model A'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3611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5F0E0"/>
                </a:solidFill>
                <a:latin typeface="맑은 고딕"/>
              </a:rPr>
              <a:t>1-class YOLO 검출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YOLO11l · 1-class "champion"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학습 : 472장 · 3,614 박스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mAP50 99.11% · Recall 98.48%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Google Colab Pro+ A100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models/lol_minimap_1class_l.pt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78308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1960" y="1783080"/>
            <a:ext cx="3611880" cy="86868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874520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Model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286000"/>
            <a:ext cx="3611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5F0E0"/>
                </a:solidFill>
                <a:latin typeface="맑은 고딕"/>
              </a:rPr>
              <a:t>HSV 결정론적 팀 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8892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HoughCircles → ring HSV 카운팅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0040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파랑(ally) 125~180 · 빨강 0~20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1188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격리 100/100 (100%)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2336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실 미니맵 통합 98.86%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43484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ML 학습 불필요 · 빠름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78308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01000" y="1783080"/>
            <a:ext cx="3611880" cy="86868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874520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Model B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286000"/>
            <a:ext cx="3611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5F0E0"/>
                </a:solidFill>
                <a:latin typeface="맑은 고딕"/>
              </a:rPr>
              <a:t>172-class 챔피언 분류기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78892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YOLO 분류기 (crop 입력)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실 미니맵 terrain + ring augment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61188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self-consistency 95.9%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02336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high-conf 96.5%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434840"/>
            <a:ext cx="3154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맑은 고딕"/>
              </a:rPr>
              <a:t>·  models/champion_classifier.pt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21208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257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F4422"/>
                </a:solidFill>
                <a:latin typeface="맑은 고딕"/>
              </a:rPr>
              <a:t>통합 end-to-end 정확도 (A' + 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2356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1F4422"/>
                </a:solidFill>
                <a:latin typeface="Calibri"/>
              </a:rPr>
              <a:t>94.88 %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760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4422"/>
                </a:solidFill>
                <a:latin typeface="맑은 고딕"/>
              </a:rPr>
              <a:t>723 샘플 중 683 정답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486400"/>
            <a:ext cx="42976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1F4422"/>
                </a:solidFill>
                <a:latin typeface="맑은 고딕"/>
              </a:rPr>
              <a:t>Riot Live API 10명 풀 필터링으로 추가 정확도 보강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위험도 v2.1 공식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Risk Formula + 4 Factors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4422"/>
                </a:solidFill>
                <a:latin typeface="Calibri"/>
              </a:rPr>
              <a:t>final_risk  =  min ( 100 ,  가중화_거리포인트  ×  우위팩터  ×  집중도팩터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423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① 거리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2423160" cy="12801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≤ 60px  →  +40점 / 적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61 ~ 120px  →  +20점 / 적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&gt; 120px  →  0점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27432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834640"/>
            <a:ext cx="2423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② 신뢰도 가중치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46120"/>
            <a:ext cx="2423160" cy="12801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conf ≥ 0.90  →  ×1.00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0.75 ~ 0.89  →  ×0.95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0.60 ~ 0.74  →  ×0.85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&lt; 0.60  →  ×0.70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27432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2834640"/>
            <a:ext cx="2423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③ 우위 팩터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246120"/>
            <a:ext cx="2423160" cy="12801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enemy &gt; ally+2  →  1.40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enemy = ally+2  →  1.30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enemy = ally+1  →  1.15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enemy = ally  →  1.00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ally &gt; enemy  →  0.85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3104" y="27432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2834640"/>
            <a:ext cx="2423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④ 집중도 팩터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3246120"/>
            <a:ext cx="2423160" cy="12801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편차 &lt; 30px  →  1.25 (밀집)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30 ~ 60px  →  1.15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60 ~ 100px  →  1.00</a:t>
            </a:r>
          </a:p>
          <a:p>
            <a:pPr algn="l"/>
            <a:r>
              <a:rPr sz="1050" b="0" i="0">
                <a:solidFill>
                  <a:srgbClr val="1F4422"/>
                </a:solidFill>
                <a:latin typeface="Calibri"/>
              </a:rPr>
              <a:t>&gt; 100px  →  0.80 (분산)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1F4422"/>
                </a:solidFill>
                <a:latin typeface="맑은 고딕"/>
              </a:rPr>
              <a:t>위험도 구간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49240"/>
            <a:ext cx="3611880" cy="91440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0 ~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Green · 안전 · LLM 호출 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349240"/>
            <a:ext cx="3611880" cy="914400"/>
          </a:xfrm>
          <a:prstGeom prst="roundRect">
            <a:avLst>
              <a:gd name="adj" fmla="val 15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5394960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31 ~ 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806440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Yellow · 주의 · LLM 호출 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5349240"/>
            <a:ext cx="3611880" cy="91440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5394960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66 ~ 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806440"/>
            <a:ext cx="3246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Red · 위험 · LLM 호출 (10초 쿨다운)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LLM 코칭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LLM Coaching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86687" y="1783080"/>
            <a:ext cx="1417320" cy="1280160"/>
          </a:xfrm>
          <a:prstGeom prst="roundRect">
            <a:avLst>
              <a:gd name="adj" fmla="val 18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6687" y="1783080"/>
            <a:ext cx="141732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1F4422"/>
                </a:solidFill>
                <a:latin typeface="맑은 고딕"/>
              </a:rPr>
              <a:t>위험도</a:t>
            </a:r>
          </a:p>
          <a:p>
            <a:pPr algn="ctr"/>
            <a:r>
              <a:rPr sz="1300" b="1" i="0">
                <a:solidFill>
                  <a:srgbClr val="1F4422"/>
                </a:solidFill>
                <a:latin typeface="맑은 고딕"/>
              </a:rPr>
              <a:t>≥ 65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08579" y="2331720"/>
            <a:ext cx="164592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86887" y="1783080"/>
            <a:ext cx="1417320" cy="1280160"/>
          </a:xfrm>
          <a:prstGeom prst="roundRect">
            <a:avLst>
              <a:gd name="adj" fmla="val 18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1783080"/>
            <a:ext cx="141732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1F4422"/>
                </a:solidFill>
                <a:latin typeface="맑은 고딕"/>
              </a:rPr>
              <a:t>+ 10초</a:t>
            </a:r>
          </a:p>
          <a:p>
            <a:pPr algn="ctr"/>
            <a:r>
              <a:rPr sz="1300" b="1" i="0">
                <a:solidFill>
                  <a:srgbClr val="1F4422"/>
                </a:solidFill>
                <a:latin typeface="맑은 고딕"/>
              </a:rPr>
              <a:t>쿨다운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08779" y="2331720"/>
            <a:ext cx="164592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87087" y="1783080"/>
            <a:ext cx="1417320" cy="1280160"/>
          </a:xfrm>
          <a:prstGeom prst="roundRect">
            <a:avLst>
              <a:gd name="adj" fmla="val 18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7087" y="1783080"/>
            <a:ext cx="141732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1F4422"/>
                </a:solidFill>
                <a:latin typeface="맑은 고딕"/>
              </a:rPr>
              <a:t>JSON +</a:t>
            </a:r>
          </a:p>
          <a:p>
            <a:pPr algn="ctr"/>
            <a:r>
              <a:rPr sz="1300" b="1" i="0">
                <a:solidFill>
                  <a:srgbClr val="1F4422"/>
                </a:solidFill>
                <a:latin typeface="맑은 고딕"/>
              </a:rPr>
              <a:t>80×80 JPEG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08979" y="2331720"/>
            <a:ext cx="164592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7287" y="1783080"/>
            <a:ext cx="1417320" cy="1280160"/>
          </a:xfrm>
          <a:prstGeom prst="roundRect">
            <a:avLst>
              <a:gd name="adj" fmla="val 18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7287" y="1783080"/>
            <a:ext cx="141732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1F4422"/>
                </a:solidFill>
                <a:latin typeface="맑은 고딕"/>
              </a:rPr>
              <a:t>Gemini</a:t>
            </a:r>
          </a:p>
          <a:p>
            <a:pPr algn="ctr"/>
            <a:r>
              <a:rPr sz="1300" b="1" i="0">
                <a:solidFill>
                  <a:srgbClr val="1F4422"/>
                </a:solidFill>
                <a:latin typeface="맑은 고딕"/>
              </a:rPr>
              <a:t>2.5 Flash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09179" y="2331720"/>
            <a:ext cx="164592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87487" y="1783080"/>
            <a:ext cx="1417320" cy="1280160"/>
          </a:xfrm>
          <a:prstGeom prst="roundRect">
            <a:avLst>
              <a:gd name="adj" fmla="val 18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7487" y="1783080"/>
            <a:ext cx="141732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1F4422"/>
                </a:solidFill>
                <a:latin typeface="맑은 고딕"/>
              </a:rPr>
              <a:t>4섹션</a:t>
            </a:r>
          </a:p>
          <a:p>
            <a:pPr algn="ctr"/>
            <a:r>
              <a:rPr sz="1300" b="1" i="0">
                <a:solidFill>
                  <a:srgbClr val="1F4422"/>
                </a:solidFill>
                <a:latin typeface="맑은 고딕"/>
              </a:rPr>
              <a:t>한국어 응답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09379" y="2331720"/>
            <a:ext cx="164592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87687" y="1783080"/>
            <a:ext cx="1417320" cy="1280160"/>
          </a:xfrm>
          <a:prstGeom prst="roundRect">
            <a:avLst>
              <a:gd name="adj" fmla="val 18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7687" y="1783080"/>
            <a:ext cx="141732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gTTS →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pygame 재생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8328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1F4422"/>
                </a:solidFill>
                <a:latin typeface="맑은 고딕"/>
              </a:rPr>
              <a:t>LLM 설정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8620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977639"/>
            <a:ext cx="1554480" cy="457200"/>
          </a:xfrm>
          <a:prstGeom prst="rect">
            <a:avLst/>
          </a:prstGeom>
          <a:solidFill>
            <a:srgbClr val="97BC6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3977639"/>
            <a:ext cx="1965960" cy="457200"/>
          </a:xfrm>
          <a:prstGeom prst="rect">
            <a:avLst/>
          </a:prstGeom>
          <a:solidFill>
            <a:srgbClr val="97BC6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Gemini (메인)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977639"/>
            <a:ext cx="1965960" cy="457200"/>
          </a:xfrm>
          <a:prstGeom prst="rect">
            <a:avLst/>
          </a:prstGeom>
          <a:solidFill>
            <a:srgbClr val="97BC6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Grok (폴백)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34839"/>
            <a:ext cx="155448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l"/>
            <a:r>
              <a:rPr sz="1200" b="0">
                <a:solidFill>
                  <a:srgbClr val="1F4422"/>
                </a:solidFill>
                <a:latin typeface="맑은 고딕"/>
              </a:rPr>
              <a:t>모델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4434839"/>
            <a:ext cx="196596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ctr"/>
            <a:r>
              <a:rPr sz="1200" b="0">
                <a:solidFill>
                  <a:srgbClr val="1F4422"/>
                </a:solidFill>
                <a:latin typeface="Calibri"/>
              </a:rPr>
              <a:t>gemini-2.5-flash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4434839"/>
            <a:ext cx="196596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ctr"/>
            <a:r>
              <a:rPr sz="1200" b="0">
                <a:solidFill>
                  <a:srgbClr val="1F4422"/>
                </a:solidFill>
                <a:latin typeface="Calibri"/>
              </a:rPr>
              <a:t>grok-4.20-vision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92039"/>
            <a:ext cx="155448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l"/>
            <a:r>
              <a:rPr sz="1200" b="0">
                <a:solidFill>
                  <a:srgbClr val="1F4422"/>
                </a:solidFill>
                <a:latin typeface="맑은 고딕"/>
              </a:rPr>
              <a:t>Max Tokens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4892039"/>
            <a:ext cx="196596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ctr"/>
            <a:r>
              <a:rPr sz="1200" b="0">
                <a:solidFill>
                  <a:srgbClr val="1F4422"/>
                </a:solidFill>
                <a:latin typeface="Calibri"/>
              </a:rPr>
              <a:t>600 (→ 800 상향)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4892039"/>
            <a:ext cx="196596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ctr"/>
            <a:r>
              <a:rPr sz="1200" b="0">
                <a:solidFill>
                  <a:srgbClr val="1F4422"/>
                </a:solidFill>
                <a:latin typeface="Calibri"/>
              </a:rPr>
              <a:t>600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49239"/>
            <a:ext cx="155448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l"/>
            <a:r>
              <a:rPr sz="1200" b="0">
                <a:solidFill>
                  <a:srgbClr val="1F4422"/>
                </a:solidFill>
                <a:latin typeface="맑은 고딕"/>
              </a:rPr>
              <a:t>Temperature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94560" y="5349239"/>
            <a:ext cx="196596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ctr"/>
            <a:r>
              <a:rPr sz="1200" b="0">
                <a:solidFill>
                  <a:srgbClr val="1F4422"/>
                </a:solidFill>
                <a:latin typeface="Calibri"/>
              </a:rPr>
              <a:t>0.4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5349239"/>
            <a:ext cx="196596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ctr"/>
            <a:r>
              <a:rPr sz="1200" b="0">
                <a:solidFill>
                  <a:srgbClr val="1F4422"/>
                </a:solidFill>
                <a:latin typeface="Calibri"/>
              </a:rPr>
              <a:t>0.4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806439"/>
            <a:ext cx="155448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l"/>
            <a:r>
              <a:rPr sz="1200" b="0">
                <a:solidFill>
                  <a:srgbClr val="1F4422"/>
                </a:solidFill>
                <a:latin typeface="맑은 고딕"/>
              </a:rPr>
              <a:t>Timeout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5806439"/>
            <a:ext cx="196596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ctr"/>
            <a:r>
              <a:rPr sz="1200" b="0">
                <a:solidFill>
                  <a:srgbClr val="1F4422"/>
                </a:solidFill>
                <a:latin typeface="Calibri"/>
              </a:rPr>
              <a:t>15 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5806439"/>
            <a:ext cx="1965960" cy="457200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/>
          <a:lstStyle/>
          <a:p>
            <a:pPr algn="ctr"/>
            <a:r>
              <a:rPr sz="1200" b="0">
                <a:solidFill>
                  <a:srgbClr val="1F4422"/>
                </a:solidFill>
                <a:latin typeface="Calibri"/>
              </a:rPr>
              <a:t>8 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383280"/>
            <a:ext cx="2926080" cy="411480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1F4422"/>
                </a:solidFill>
                <a:latin typeface="맑은 고딕"/>
              </a:rPr>
              <a:t>출력 4섹션 (고정 포맷)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3886200"/>
            <a:ext cx="5303520" cy="246888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023360"/>
            <a:ext cx="5029200" cy="2240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F4422"/>
                </a:solidFill>
                <a:latin typeface="Calibri"/>
              </a:rPr>
              <a:t>[위험도]  낮음 / 보통 / 높음 / 매우높음</a:t>
            </a:r>
          </a:p>
          <a:p>
            <a:pPr algn="l"/>
            <a:r>
              <a:rPr sz="1400" b="0" i="0">
                <a:solidFill>
                  <a:srgbClr val="1F4422"/>
                </a:solidFill>
                <a:latin typeface="Calibri"/>
              </a:rPr>
              <a:t>[현재 상황]  한 줄</a:t>
            </a:r>
          </a:p>
          <a:p>
            <a:pPr algn="l"/>
            <a:r>
              <a:rPr sz="1400" b="0" i="0">
                <a:solidFill>
                  <a:srgbClr val="1F4422"/>
                </a:solidFill>
                <a:latin typeface="Calibri"/>
              </a:rPr>
              <a:t>[추천 로테이션]  1~2줄 · 라인/오브젝트 명시</a:t>
            </a:r>
          </a:p>
          <a:p>
            <a:pPr algn="l"/>
            <a:r>
              <a:rPr sz="1400" b="0" i="0">
                <a:solidFill>
                  <a:srgbClr val="1F4422"/>
                </a:solidFill>
                <a:latin typeface="Calibri"/>
              </a:rPr>
              <a:t>[30초 후 예상]  한 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Riot Live Client API  +  보안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Riot API Integration &amp; Security ─ 박창민 본 영역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1F4422"/>
                </a:solidFill>
                <a:latin typeface="맑은 고딕"/>
              </a:rPr>
              <a:t>API 호출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1F4422"/>
                </a:solidFill>
                <a:latin typeface="Calibri"/>
              </a:rPr>
              <a:t>로컬 게임 클라이언트  →  https://127.0.0.1:2999/liveclientdata/allgamedata  →  data_collector.py (폴링 500ms)  →  coordinator.py (좌표 변환)  →  위험도 엔진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3017520" cy="41148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allgamedata JSON 예시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5486400" cy="251460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5303520" cy="2331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4422"/>
                </a:solidFill>
                <a:latin typeface="Consolas"/>
              </a:rPr>
              <a:t>{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Consolas"/>
              </a:rPr>
              <a:t>  "allPlayers": [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Consolas"/>
              </a:rPr>
              <a:t>    {"championName": "Jinx",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Consolas"/>
              </a:rPr>
              <a:t>     "team": "ORDER",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Consolas"/>
              </a:rPr>
              <a:t>     "items": [...],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Consolas"/>
              </a:rPr>
              <a:t>     "scores": {...}},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Consolas"/>
              </a:rPr>
              <a:t>    ...10명 (개인정보 마스킹)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Consolas"/>
              </a:rPr>
              <a:t>  ],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Consolas"/>
              </a:rPr>
              <a:t>  "events": {"Events": [...] }</a:t>
            </a:r>
          </a:p>
          <a:p>
            <a:pPr algn="l"/>
            <a:r>
              <a:rPr sz="1100" b="0" i="0">
                <a:solidFill>
                  <a:srgbClr val="1F4422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291840"/>
            <a:ext cx="3291840" cy="41148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보안 점검 체크리스트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9476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3931920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931920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4422"/>
                </a:solidFill>
                <a:latin typeface="맑은 고딕"/>
              </a:rPr>
              <a:t>LLM 호출 쿨타임 / 일일 호출 수 로깅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4498848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49884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498848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4422"/>
                </a:solidFill>
                <a:latin typeface="맑은 고딕"/>
              </a:rPr>
              <a:t>API 키 노출 방지 (.env 분리 · .gitignore 등록)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5065776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065776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06577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4422"/>
                </a:solidFill>
                <a:latin typeface="맑은 고딕"/>
              </a:rPr>
              <a:t>Rate Limit 정책 준수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5632704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632704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632704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4422"/>
                </a:solidFill>
                <a:latin typeface="맑은 고딕"/>
              </a:rPr>
              <a:t>3rd-Party Policy 준수 (메모리 후킹·패킷 변조·입력 자동화 금지)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사용자 인터페이스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Overlay  +  Controller (한승우)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2926080" cy="4114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게임 오버레이 (PyQt6)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미니맵 옆 고정 배치 (Always-on-top)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클릭 투과 (Click-through) — 게임 방해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Frameless · 풀스크린 호환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위험도 색상 변화 Green → Yellow → 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코칭 텍스트 배너 (LLM 응답, 20초 표시)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듀얼 모니터 환경 검증 완료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548640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548640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⚠ 위험도 86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2011680"/>
            <a:ext cx="3383280" cy="4114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컨트롤러 UI (QMainWindow)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F4C430"/>
                </a:solidFill>
                <a:latin typeface="맑은 고딕"/>
              </a:rPr>
              <a:t>★ Phase Final 신규 구현 (471줄)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346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서비스 시작/정지 버튼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918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AI 코칭 알림 On/Off (Gemini 호출 토글)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490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TTS 음성 On/Off  +  음량 슬라이더(70%)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062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위험도 임계값 슬라이더 (RISK_AUTO_ALERT)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6634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트레이 아이콘 + 최소화 (QSystemTrayIcon)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1206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▸  컨트롤러 ↔ integrated_main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F4C430"/>
                </a:solidFill>
                <a:latin typeface="맑은 고딕"/>
              </a:rPr>
              <a:t>※ MVP #5 누락 항목을 Phase Final에서 컨트롤러 UI로 보완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언어 / 런타임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828800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Python 3.11  ·  conda env  lolcoach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화면 캡처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828800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mss (1차)  /  dxcam (성능 보조)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12848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영상 처리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212848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OpenCV ≥ 4.10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212848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객체 탐지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12848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Ultralytics YOLO11l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96896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ML 프레임워크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2596896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PyTorch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596896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596896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Gemini 2.5 Flash (메인)  /  Grok-4  /  OpenAI (폴백)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80944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TTS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2980944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gTTS  +  pygame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980944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980944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PyQt6 (폴백 PyQt5)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64992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게임 데이터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3364992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Riot Live Client Data API  (127.0.0.1:2999)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364992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설정 / 검증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364992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PyYAML  ·  Pydantic v2  ·  python-dotenv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49040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로깅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3749040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loguru (회전 로그)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749040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패키징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3749040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PyInstaller  --onedir  (단일 .exe)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33088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학습 환경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4133088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Google Colab Pro+ A100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133088"/>
            <a:ext cx="1645920" cy="38404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형상 관리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4133088"/>
            <a:ext cx="3840480" cy="384048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1F4422"/>
                </a:solidFill>
                <a:latin typeface="Calibri"/>
              </a:rPr>
              <a:t>GitHub Public  +  Conventional Commits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12064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F4422"/>
                </a:solidFill>
                <a:latin typeface="맑은 고딕"/>
              </a:rPr>
              <a:t>⚠  공통 원칙 : Riot 3rd-Party Policy 준수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4422"/>
                </a:solidFill>
                <a:latin typeface="맑은 고딕"/>
              </a:rPr>
              <a:t>메모리 후킹 · 패킷 변조 · 입력 자동화 금지   →   화면 캡처 + Live Client API + LLM API 만 사용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1F4422"/>
                </a:solidFill>
                <a:latin typeface="맑은 고딕"/>
              </a:rPr>
              <a:t>Live Client API 는 로컬호스트 (127.0.0.1) 전용  →  Riot 서버 부하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성과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Performance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007" y="1783080"/>
            <a:ext cx="2194560" cy="1554480"/>
          </a:xfrm>
          <a:prstGeom prst="roundRect">
            <a:avLst>
              <a:gd name="adj" fmla="val 1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007" y="1965960"/>
            <a:ext cx="21945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1F4422"/>
                </a:solidFill>
                <a:latin typeface="Calibri"/>
              </a:rPr>
              <a:t>99.11 %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007" y="2743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1F4422"/>
                </a:solidFill>
                <a:latin typeface="맑은 고딕"/>
              </a:rPr>
              <a:t>Model A' mAP50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8287" y="1783080"/>
            <a:ext cx="2194560" cy="155448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8287" y="1965960"/>
            <a:ext cx="21945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96.5 %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287" y="2743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Model B v2 high-conf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8567" y="1783080"/>
            <a:ext cx="2194560" cy="155448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8567" y="1965960"/>
            <a:ext cx="21945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100 /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8567" y="2743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HSV 팀분류 (격리)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8847" y="1783080"/>
            <a:ext cx="2194560" cy="1554480"/>
          </a:xfrm>
          <a:prstGeom prst="roundRect">
            <a:avLst>
              <a:gd name="adj" fmla="val 1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8847" y="1965960"/>
            <a:ext cx="21945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1F4422"/>
                </a:solidFill>
                <a:latin typeface="Calibri"/>
              </a:rPr>
              <a:t>94.88 %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847" y="2743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1F4422"/>
                </a:solidFill>
                <a:latin typeface="맑은 고딕"/>
              </a:rPr>
              <a:t>통합 end-to-end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9127" y="1783080"/>
            <a:ext cx="2194560" cy="155448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127" y="1965960"/>
            <a:ext cx="21945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12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9127" y="2743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위험도 단위 테스트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661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1F4422"/>
                </a:solidFill>
                <a:latin typeface="맑은 고딕"/>
              </a:rPr>
              <a:t>목표 vs 실제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3200400" cy="292608"/>
          </a:xfrm>
          <a:prstGeom prst="rect">
            <a:avLst/>
          </a:prstGeom>
          <a:solidFill>
            <a:srgbClr val="97BC6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지표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4114800"/>
            <a:ext cx="1828800" cy="292608"/>
          </a:xfrm>
          <a:prstGeom prst="rect">
            <a:avLst/>
          </a:prstGeom>
          <a:solidFill>
            <a:srgbClr val="97BC6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목표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4114800"/>
            <a:ext cx="6035040" cy="292608"/>
          </a:xfrm>
          <a:prstGeom prst="rect">
            <a:avLst/>
          </a:prstGeom>
          <a:solidFill>
            <a:srgbClr val="97BC6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실제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07408"/>
            <a:ext cx="320040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l"/>
            <a:r>
              <a:rPr sz="1100" b="0">
                <a:solidFill>
                  <a:srgbClr val="1F4422"/>
                </a:solidFill>
                <a:latin typeface="맑은 고딕"/>
              </a:rPr>
              <a:t>YOLO mAP50 (Model 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4407408"/>
            <a:ext cx="182880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≥ 85 %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407408"/>
            <a:ext cx="603504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99.35 %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700016"/>
            <a:ext cx="320040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l"/>
            <a:r>
              <a:rPr sz="1100" b="0">
                <a:solidFill>
                  <a:srgbClr val="1F4422"/>
                </a:solidFill>
                <a:latin typeface="맑은 고딕"/>
              </a:rPr>
              <a:t>YOLO mAP50 (Model A')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40" y="4700016"/>
            <a:ext cx="182880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≥ 85 %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4700016"/>
            <a:ext cx="603504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99.11 %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992624"/>
            <a:ext cx="320040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l"/>
            <a:r>
              <a:rPr sz="1100" b="0">
                <a:solidFill>
                  <a:srgbClr val="1F4422"/>
                </a:solidFill>
                <a:latin typeface="맑은 고딕"/>
              </a:rPr>
              <a:t>Recall (A')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4992624"/>
            <a:ext cx="182880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맑은 고딕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4992624"/>
            <a:ext cx="603504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98.48 %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85232"/>
            <a:ext cx="320040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l"/>
            <a:r>
              <a:rPr sz="1100" b="0">
                <a:solidFill>
                  <a:srgbClr val="1F4422"/>
                </a:solidFill>
                <a:latin typeface="맑은 고딕"/>
              </a:rPr>
              <a:t>Model B v2 정확도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5285232"/>
            <a:ext cx="182880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맑은 고딕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5285232"/>
            <a:ext cx="603504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self-consistency 95.9 %  /  high-conf 96.5 %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577840"/>
            <a:ext cx="320040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l"/>
            <a:r>
              <a:rPr sz="1100" b="0">
                <a:solidFill>
                  <a:srgbClr val="1F4422"/>
                </a:solidFill>
                <a:latin typeface="맑은 고딕"/>
              </a:rPr>
              <a:t>HSV 팀분류 (격리)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0" y="5577840"/>
            <a:ext cx="182880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맑은 고딕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5577840"/>
            <a:ext cx="603504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100 / 100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870448"/>
            <a:ext cx="320040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l"/>
            <a:r>
              <a:rPr sz="1100" b="0">
                <a:solidFill>
                  <a:srgbClr val="1F4422"/>
                </a:solidFill>
                <a:latin typeface="맑은 고딕"/>
              </a:rPr>
              <a:t>HSV 팀분류 (실 미니맵)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40" y="5870448"/>
            <a:ext cx="182880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맑은 고딕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5870448"/>
            <a:ext cx="603504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98.86 %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6163056"/>
            <a:ext cx="320040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l"/>
            <a:r>
              <a:rPr sz="1100" b="0">
                <a:solidFill>
                  <a:srgbClr val="1F4422"/>
                </a:solidFill>
                <a:latin typeface="맑은 고딕"/>
              </a:rPr>
              <a:t>통합 end-to-end (A'+F)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40" y="6163056"/>
            <a:ext cx="182880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≥ 85 %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6163056"/>
            <a:ext cx="6035040" cy="292608"/>
          </a:xfrm>
          <a:prstGeom prst="rect">
            <a:avLst/>
          </a:prstGeom>
          <a:solidFill>
            <a:srgbClr val="F5F0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94.88 %  (723 중 683 정답)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455664"/>
            <a:ext cx="320040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l"/>
            <a:r>
              <a:rPr sz="1100" b="0">
                <a:solidFill>
                  <a:srgbClr val="1F4422"/>
                </a:solidFill>
                <a:latin typeface="맑은 고딕"/>
              </a:rPr>
              <a:t>LLM 응답 시간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40" y="6455664"/>
            <a:ext cx="182880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≤ 3초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6455664"/>
            <a:ext cx="6035040" cy="292608"/>
          </a:xfrm>
          <a:prstGeom prst="rect">
            <a:avLst/>
          </a:prstGeom>
          <a:solidFill>
            <a:srgbClr val="E9E5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100" b="0">
                <a:solidFill>
                  <a:srgbClr val="1F4422"/>
                </a:solidFill>
                <a:latin typeface="Calibri"/>
              </a:rPr>
              <a:t>timeout 15초 안정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개발 일정  +  3대 이관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Development Timeline &amp; Handovers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727" y="17830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727" y="1783080"/>
            <a:ext cx="2697480" cy="640080"/>
          </a:xfrm>
          <a:prstGeom prst="roundRect">
            <a:avLst>
              <a:gd name="adj" fmla="val 1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727" y="182880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" y="21488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셋업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727" y="251460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  <a:latin typeface="Calibri"/>
              </a:rPr>
              <a:t>04.22~04.25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2880360"/>
            <a:ext cx="24231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1F4422"/>
                </a:solidFill>
                <a:latin typeface="맑은 고딕"/>
              </a:rPr>
              <a:t>환경 통일 · 역할별 PoC Hello World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70351" y="2606040"/>
            <a:ext cx="73152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52647" y="17830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52647" y="1783080"/>
            <a:ext cx="2697480" cy="640080"/>
          </a:xfrm>
          <a:prstGeom prst="roundRect">
            <a:avLst>
              <a:gd name="adj" fmla="val 1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2647" y="182880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647" y="21488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2647" y="251460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  <a:latin typeface="Calibri"/>
              </a:rPr>
              <a:t>04.26~05.06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9807" y="2880360"/>
            <a:ext cx="24231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1F4422"/>
                </a:solidFill>
                <a:latin typeface="맑은 고딕"/>
              </a:rPr>
              <a:t>YOLO 학습 · Riot API · 오버레이 UI · 통합 PoC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59271" y="2606040"/>
            <a:ext cx="73152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41567" y="17830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41567" y="1783080"/>
            <a:ext cx="2697480" cy="640080"/>
          </a:xfrm>
          <a:prstGeom prst="roundRect">
            <a:avLst>
              <a:gd name="adj" fmla="val 1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1567" y="182880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1567" y="21488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고도화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1567" y="251460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  <a:latin typeface="Calibri"/>
              </a:rPr>
              <a:t>05.07~05.11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727" y="2880360"/>
            <a:ext cx="24231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1F4422"/>
                </a:solidFill>
                <a:latin typeface="맑은 고딕"/>
              </a:rPr>
              <a:t>위험도 v2.1 · Model A'/F/B v2 · 정확도 94.88%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48191" y="2606040"/>
            <a:ext cx="73152" cy="182880"/>
          </a:xfrm>
          <a:prstGeom prst="rightArrow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30487" y="17830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30487" y="1783080"/>
            <a:ext cx="2697480" cy="640080"/>
          </a:xfrm>
          <a:prstGeom prst="roundRect">
            <a:avLst>
              <a:gd name="adj" fmla="val 13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30487" y="182880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1F4422"/>
                </a:solidFill>
                <a:latin typeface="Calibri"/>
              </a:rPr>
              <a:t>Final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0487" y="21488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F4422"/>
                </a:solidFill>
                <a:latin typeface="맑은 고딕"/>
              </a:rPr>
              <a:t>이관·배포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0487" y="251460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  <a:latin typeface="Calibri"/>
              </a:rPr>
              <a:t>05.12~05.18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7647" y="2880360"/>
            <a:ext cx="24231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1F4422"/>
                </a:solidFill>
                <a:latin typeface="맑은 고딕"/>
              </a:rPr>
              <a:t>exe 빌드 · A' 재학습 · 데모 영상 · 발표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931920"/>
            <a:ext cx="2560320" cy="411480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1F4422"/>
                </a:solidFill>
                <a:latin typeface="맑은 고딕"/>
              </a:rPr>
              <a:t>3대 이관 (모두 완료)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480560"/>
            <a:ext cx="1188720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480560"/>
            <a:ext cx="1188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4C430"/>
                </a:solidFill>
                <a:latin typeface="Calibri"/>
              </a:rPr>
              <a:t>2026-05-06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4480560"/>
            <a:ext cx="9875520" cy="548640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0" y="452628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F4422"/>
                </a:solidFill>
                <a:latin typeface="맑은 고딕"/>
              </a:rPr>
              <a:t>위험도 산정 규칙 (MVP #2)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52628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5F2D"/>
                </a:solidFill>
                <a:latin typeface="맑은 고딕"/>
              </a:rPr>
              <a:t>한승우  →  황기수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52628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맑은 고딕"/>
              </a:rPr>
              <a:t>한승우 부재 / 통합 PoC 일정 압박  →  v2.1 멀티팩터로 단독 완성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20640"/>
            <a:ext cx="1188720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120640"/>
            <a:ext cx="1188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4C430"/>
                </a:solidFill>
                <a:latin typeface="Calibri"/>
              </a:rPr>
              <a:t>2026-05-11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7360" y="5120640"/>
            <a:ext cx="9875520" cy="548640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0" y="516636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F4422"/>
                </a:solidFill>
                <a:latin typeface="맑은 고딕"/>
              </a:rPr>
              <a:t>A' 모델 재학습 (0506, 1,364장)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16636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5F2D"/>
                </a:solidFill>
                <a:latin typeface="맑은 고딕"/>
              </a:rPr>
              <a:t>황기수  →  김대원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16636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맑은 고딕"/>
              </a:rPr>
              <a:t>황기수 업무 과부하  →  3-class best.pt · realtime_detector2.py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760720"/>
            <a:ext cx="1188720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760720"/>
            <a:ext cx="1188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4C430"/>
                </a:solidFill>
                <a:latin typeface="Calibri"/>
              </a:rPr>
              <a:t>2026-05-11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37360" y="5760720"/>
            <a:ext cx="9875520" cy="548640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0" y="580644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F4422"/>
                </a:solidFill>
                <a:latin typeface="맑은 고딕"/>
              </a:rPr>
              <a:t>데모 영상 · 발표 자료 · README · 배포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580644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5F2D"/>
                </a:solidFill>
                <a:latin typeface="맑은 고딕"/>
              </a:rPr>
              <a:t>황기수  →  박창민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8064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맑은 고딕"/>
              </a:rPr>
              <a:t>황기수 업무 과부하  →  본 영역(Riot API+보안)에 추가 인수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팀 기여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Team Contributions (4 members)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727" y="1783080"/>
            <a:ext cx="2697480" cy="4480560"/>
          </a:xfrm>
          <a:prstGeom prst="roundRect">
            <a:avLst>
              <a:gd name="adj" fmla="val 4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727" y="1783080"/>
            <a:ext cx="2697480" cy="10058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727" y="187452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황기수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" y="2377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5F0E0"/>
                </a:solidFill>
                <a:latin typeface="맑은 고딕"/>
              </a:rPr>
              <a:t>PM + AI/ML + 통합 아키텍트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29260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PM · 브랜치 전략 · 코딩 컨벤션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42900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YOLO 학습 (Model A / A' / F / B v2)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393192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4C430"/>
                </a:solidFill>
                <a:latin typeface="맑은 고딕"/>
              </a:rPr>
              <a:t>★  위험도 알고리즘 v2.1 단독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4434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4C430"/>
                </a:solidFill>
                <a:latin typeface="맑은 고딕"/>
              </a:rPr>
              <a:t>★  통합 PoC 1,549줄 · 8 모듈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" y="49377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Phase Final 버그픽스 6종 (F1·F2·F3·F4·F5·F6)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54406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PyInstaller exe 빌드 · 기획 문서 13종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2647" y="1783080"/>
            <a:ext cx="2697480" cy="4480560"/>
          </a:xfrm>
          <a:prstGeom prst="roundRect">
            <a:avLst>
              <a:gd name="adj" fmla="val 4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2647" y="1783080"/>
            <a:ext cx="2697480" cy="100584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2647" y="187452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김대원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2647" y="2377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5F0E0"/>
                </a:solidFill>
                <a:latin typeface="맑은 고딕"/>
              </a:rPr>
              <a:t>데이터 + 모델 학습 마무리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9807" y="29260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미니맵 학습 데이터셋 구축 (472 ~ 1,364장)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9807" y="342900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라벨링 · 전처리 · 정제 파이프라인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9807" y="393192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4C430"/>
                </a:solidFill>
                <a:latin typeface="맑은 고딕"/>
              </a:rPr>
              <a:t>★  A' 모델 재학습 인수 (0511)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9807" y="4434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Colab A100 · mAP50 0.93 + 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9807" y="49377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3-class best.pt · realtime_detector2.py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9807" y="54406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머지 c76a8ee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1567" y="1783080"/>
            <a:ext cx="2697480" cy="4480560"/>
          </a:xfrm>
          <a:prstGeom prst="roundRect">
            <a:avLst>
              <a:gd name="adj" fmla="val 4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41567" y="1783080"/>
            <a:ext cx="2697480" cy="100584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1567" y="187452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박창민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1567" y="2377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5F0E0"/>
                </a:solidFill>
                <a:latin typeface="맑은 고딕"/>
              </a:rPr>
              <a:t>Riot API + 보안 + 발표·배포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8727" y="29260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4C430"/>
                </a:solidFill>
                <a:latin typeface="맑은 고딕"/>
              </a:rPr>
              <a:t>★  Riot Live Client API 연동 전담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8727" y="342900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data_collector.py 폴링 · coordinator.py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8727" y="393192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좌표 양식 표준 JSON 정의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8727" y="4434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보안 점검 (LLM 쿨타임 · API 키 · 정책)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727" y="49377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docs/RIOT_API_GUIDE.md · LIVE_CLIENT_API_FIELDS.md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727" y="54406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+ 데모 영상 · 발표 자료 · GitHub Release (추가 인수)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30487" y="1783080"/>
            <a:ext cx="2697480" cy="4480560"/>
          </a:xfrm>
          <a:prstGeom prst="roundRect">
            <a:avLst>
              <a:gd name="adj" fmla="val 4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30487" y="1783080"/>
            <a:ext cx="2697480" cy="1005840"/>
          </a:xfrm>
          <a:prstGeom prst="roundRect">
            <a:avLst>
              <a:gd name="adj" fmla="val 10000"/>
            </a:avLst>
          </a:prstGeom>
          <a:solidFill>
            <a:srgbClr val="1F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30487" y="187452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한승우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0487" y="2377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5F0E0"/>
                </a:solidFill>
                <a:latin typeface="맑은 고딕"/>
              </a:rPr>
              <a:t>Frontend (Overlay + Controller)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7647" y="29260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PyQt6 게임 오버레이 UI 완성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67647" y="342900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클릭 투과 · Frameless · Always-on-top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7647" y="393192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4C430"/>
                </a:solidFill>
                <a:latin typeface="맑은 고딕"/>
              </a:rPr>
              <a:t>★  컨트롤러 UI (QMainWindow · 471줄) 신규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7647" y="4434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시작/정지 · 알림·TTS 토글 · 임계값 슬라이더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7647" y="49377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트레이 최소화 (QSystemTrayIcon)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7647" y="54406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F4422"/>
                </a:solidFill>
                <a:latin typeface="맑은 고딕"/>
              </a:rPr>
              <a:t>·  듀얼 모니터 환경 대응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F4C430"/>
                </a:solidFill>
                <a:latin typeface="맑은 고딕"/>
              </a:rPr>
              <a:t>★ = 원래 계획에 없거나 이관 후 단독 완성한 핵심 산출물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향후 확장  +  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97BC62"/>
                </a:solidFill>
                <a:latin typeface="Calibri"/>
              </a:rPr>
              <a:t>Future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F4C430"/>
                </a:solidFill>
                <a:latin typeface="맑은 고딕"/>
              </a:rP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98755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F4422"/>
                </a:solidFill>
                <a:latin typeface="맑은 고딕"/>
              </a:rPr>
              <a:t>상대 아이템 빌드·코어템 완성 시점 카드 표시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F4C430"/>
                </a:solidFill>
                <a:latin typeface="맑은 고딕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14600"/>
            <a:ext cx="98755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F4422"/>
                </a:solidFill>
                <a:latin typeface="맑은 고딕"/>
              </a:rPr>
              <a:t>아군 체력·마나·쿨다운 스냅샷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F4C430"/>
                </a:solidFill>
                <a:latin typeface="맑은 고딕"/>
              </a:rPr>
              <a:t>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00400"/>
            <a:ext cx="98755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F4422"/>
                </a:solidFill>
                <a:latin typeface="맑은 고딕"/>
              </a:rPr>
              <a:t>드래곤·전령·바론 리스폰 타이머 (Live API 이벤트 활용)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F4C430"/>
                </a:solidFill>
                <a:latin typeface="맑은 고딕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86200"/>
            <a:ext cx="98755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F4422"/>
                </a:solidFill>
                <a:latin typeface="맑은 고딕"/>
              </a:rPr>
              <a:t>와드 만료 임박 알림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F4C430"/>
                </a:solidFill>
                <a:latin typeface="맑은 고딕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572000"/>
            <a:ext cx="98755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F4422"/>
                </a:solidFill>
                <a:latin typeface="맑은 고딕"/>
              </a:rPr>
              <a:t>챔피언 조합 시간대별 승률 그래프 (Match-V5)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F4422"/>
                </a:solidFill>
                <a:latin typeface="Calibri"/>
              </a:rPr>
              <a:t>Q &amp;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1F4422"/>
                </a:solidFill>
                <a:latin typeface="맑은 고딕"/>
              </a:rPr>
              <a:t>질문 환영합니다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0" b="1" i="0">
                <a:solidFill>
                  <a:srgbClr val="2C5F2D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 i="0">
                <a:solidFill>
                  <a:srgbClr val="97BC62"/>
                </a:solidFill>
                <a:latin typeface="Calibri"/>
              </a:rPr>
              <a:t>Thank you for your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3749039"/>
            <a:ext cx="9144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4114800"/>
            <a:ext cx="5760720" cy="1463040"/>
          </a:xfrm>
          <a:prstGeom prst="roundRect">
            <a:avLst>
              <a:gd name="adj" fmla="val 6000"/>
            </a:avLst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4206240"/>
            <a:ext cx="53949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0" i="0">
                <a:solidFill>
                  <a:srgbClr val="1F4422"/>
                </a:solidFill>
                <a:latin typeface="Calibri"/>
              </a:rPr>
              <a:t>GitHub  ·  github.com/lol-realtime-coach</a:t>
            </a:r>
          </a:p>
          <a:p>
            <a:pPr algn="ctr"/>
            <a:r>
              <a:rPr sz="1400" b="0" i="0">
                <a:solidFill>
                  <a:srgbClr val="1F4422"/>
                </a:solidFill>
                <a:latin typeface="Calibri"/>
              </a:rPr>
              <a:t>데모 영상  ·  YouTube @LoLRealtimeCoach</a:t>
            </a:r>
          </a:p>
          <a:p>
            <a:pPr algn="ctr"/>
            <a:r>
              <a:rPr sz="1400" b="0" i="0">
                <a:solidFill>
                  <a:srgbClr val="1F4422"/>
                </a:solidFill>
                <a:latin typeface="Calibri"/>
              </a:rPr>
              <a:t>문서  ·  Notion 프로젝트 페이지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1F4422"/>
                </a:solidFill>
                <a:latin typeface="맑은 고딕"/>
              </a:rPr>
              <a:t>황기수  ·  김대원  ·  박창민  ·  한승우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A5A5A"/>
                </a:solidFill>
                <a:latin typeface="Calibri"/>
              </a:rPr>
              <a:t>2026.05.18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